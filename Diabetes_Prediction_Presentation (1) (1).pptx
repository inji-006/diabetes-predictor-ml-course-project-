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EC7C16-1896-98B6-1233-846E07FE1FA5}" v="224" dt="2026-06-04T19:54:04.4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1E3A04-8A16-4DB3-9BE5-59C01B6540B2}" type="datetimeFigureOut">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36AB78-94CF-4E6A-AF20-1BFDB9C32DA9}" type="slidenum">
              <a:t>‹#›</a:t>
            </a:fld>
            <a:endParaRPr lang="en-US"/>
          </a:p>
        </p:txBody>
      </p:sp>
    </p:spTree>
    <p:extLst>
      <p:ext uri="{BB962C8B-B14F-4D97-AF65-F5344CB8AC3E}">
        <p14:creationId xmlns:p14="http://schemas.microsoft.com/office/powerpoint/2010/main" val="1981537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welcome to our Diabetes Prediction project. We'll show you how we built a machine learning model that can predict diabetes from clinical data and deployed it as a web app.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main question: can we predict whether a patient has diabetes using features like HbA1c, blood glucose, BMI, age, hypertension, heart disease, and smoking history? Early prediction helps doctors intervene before serious complications develop.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started with a raw dataset containing 100,000 rows. We removed duplicates, replaced 'No Info' in smoking history with the mode, filtered out invalid genders, capped BMI at 60, and converted age to integer. After cleaning, we had 95,586 clean rows – no missing values left.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histogram shows the distribution of age, BMI, and blood glucose. Most patients are between 30 and 70 years old, BMI peaks around normal to overweight range, and glucose levels show a right-skewed distribution.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also explored categorical variables: gender is balanced, most patients never smoked, and only 8.5% have diabetes. This class imbalance will be handled with SMOTE later.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boxplots clearly show that diabetic patients have much higher HbA1c and blood glucose levels. This matches medical knowledge and confirms these features are strong predictors.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heatmap shows that HbA1c and blood glucose have the highest correlation with diabetes. BMI, age, and hypertension also show moderate correlation. This guided our feature selection.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countplots reveal that both hypertension and heart disease are more common among diabetic patients. They are important risk factors included in our model.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engineered four new features: age group, BMI category, glucose risk, and a composite risk score (0–4). Then we used SelectKBest with chi-squared test to choose the top 8 features. The final features included HbA1c, blood glucose, risk score, BMI, age, hypertension, heart disease, and age group.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compared three algorithms: Logistic Regression, Random Forest, and Gradient Boosting. Random Forest achieved the best balance with 0.97 accuracy, 0.93 precision, 0.94 recall, and 0.93 F1-score. We chose Random Forest for further tuning.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bar chart visualizes the comparison across four metrics. Gradient Boosting performs slightly better, but Random Forest is almost as good and offers better interpretability and faster training. We chose Random Forest for tuning.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Parameter tuning means finding the best settings for a model – default values rarely work perfectly. We used GridSearchCV with 3‑fold cross‑validation, searching over n_estimators, max_depth, and min_samples_split. The best parameters were: 200 trees, depth 20, and minimum samples split of 2.</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held‑out test set, the tuned Random Forest achieved 0.95 recall and 0.94 F1‑score. The confusion matrix shows only 341 false negatives (missed diabetics) and 415 false positives. These metrics satisfy the project requirement of precision and recall above 0.3.</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confusion matrix visualizes the model's predictions. It correctly identifies most diabetic patients while keeping false positives low.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model tells us that HbA1c level is by far the most important feature, followed by blood glucose and the engineered risk score. This matches medical knowledge – long‑term blood sugar control is the primary indicator of diabetes.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deployed the model using Streamlit. You can try it live at the link shown. The app takes patient inputs, scales them exactly like training, selects the same features, and returns a prediction: Diabetic or Not Diabetic. It also shows the probability.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summary, we successfully built a high‑performance diabetes predictor. Key takeaways: HbA1c and glucose dominate, and our engineered risk score adds value. Future work could include more external validation and adding lifestyle features like diet or exercise.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2gcxmicxjsajkvjykyfw.streamlit.ap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46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478" y="2059781"/>
            <a:ext cx="12045413" cy="830997"/>
          </a:xfrm>
          <a:prstGeom prst="rect">
            <a:avLst/>
          </a:prstGeom>
          <a:noFill/>
        </p:spPr>
        <p:txBody>
          <a:bodyPr wrap="none" lIns="91440" tIns="45720" rIns="91440" bIns="45720" anchor="t">
            <a:spAutoFit/>
          </a:bodyPr>
          <a:lstStyle/>
          <a:p>
            <a:pPr algn="ctr">
              <a:defRPr sz="4400" b="1">
                <a:solidFill>
                  <a:srgbClr val="004678"/>
                </a:solidFill>
                <a:latin typeface="Times New Roman"/>
              </a:defRPr>
            </a:pPr>
            <a:r>
              <a:rPr sz="4800">
                <a:latin typeface="Times New Roman"/>
              </a:rPr>
              <a:t>Diabetes Prediction using</a:t>
            </a:r>
            <a:r>
              <a:rPr lang="en-US" sz="4800">
                <a:latin typeface="Times New Roman"/>
              </a:rPr>
              <a:t> Machine Learning</a:t>
            </a:r>
            <a:r>
              <a:rPr lang="en-US" dirty="0">
                <a:latin typeface="Times New Roman"/>
              </a:rPr>
              <a:t> </a:t>
            </a:r>
            <a:endParaRPr dirty="0">
              <a:latin typeface="Times New Roman"/>
            </a:endParaRPr>
          </a:p>
        </p:txBody>
      </p:sp>
      <p:sp>
        <p:nvSpPr>
          <p:cNvPr id="4" name="TextBox 3"/>
          <p:cNvSpPr txBox="1"/>
          <p:nvPr/>
        </p:nvSpPr>
        <p:spPr>
          <a:xfrm>
            <a:off x="1470196" y="3840480"/>
            <a:ext cx="8946808" cy="2092881"/>
          </a:xfrm>
          <a:prstGeom prst="rect">
            <a:avLst/>
          </a:prstGeom>
          <a:noFill/>
        </p:spPr>
        <p:txBody>
          <a:bodyPr wrap="none" lIns="91440" tIns="45720" rIns="91440" bIns="45720" anchor="t">
            <a:spAutoFit/>
          </a:bodyPr>
          <a:lstStyle/>
          <a:p>
            <a:pPr algn="ctr">
              <a:defRPr sz="2400">
                <a:solidFill>
                  <a:srgbClr val="505050"/>
                </a:solidFill>
                <a:latin typeface="Times New Roman"/>
              </a:defRPr>
            </a:pPr>
            <a:r>
              <a:rPr sz="2800">
                <a:latin typeface="Times New Roman"/>
              </a:rPr>
              <a:t>From Data Cleaning to Clinical Deployment</a:t>
            </a:r>
            <a:endParaRPr lang="en-US" sz="2800">
              <a:latin typeface="Times New Roman"/>
              <a:cs typeface="Times New Roman"/>
            </a:endParaRPr>
          </a:p>
          <a:p>
            <a:pPr>
              <a:defRPr>
                <a:latin typeface="Times New Roman"/>
              </a:defRPr>
            </a:pPr>
            <a:endParaRPr sz="2800" dirty="0">
              <a:latin typeface="Times New Roman"/>
              <a:cs typeface="Times New Roman"/>
            </a:endParaRPr>
          </a:p>
          <a:p>
            <a:pPr>
              <a:defRPr>
                <a:latin typeface="Times New Roman"/>
              </a:defRPr>
            </a:pPr>
            <a:r>
              <a:rPr sz="2800">
                <a:latin typeface="Times New Roman"/>
              </a:rPr>
              <a:t>Streamlit App: </a:t>
            </a:r>
            <a:r>
              <a:rPr sz="2800" dirty="0">
                <a:latin typeface="Times New Roman"/>
                <a:hlinkClick r:id="rId3"/>
              </a:rPr>
              <a:t>https://pp2gcxmicxjsajkvjykyfw.streamlit.app</a:t>
            </a:r>
            <a:endParaRPr sz="2800">
              <a:latin typeface="Times New Roman"/>
              <a:cs typeface="Times New Roman"/>
              <a:hlinkClick r:id="" action="ppaction://noaction"/>
            </a:endParaRPr>
          </a:p>
          <a:p>
            <a:pPr>
              <a:defRPr>
                <a:latin typeface="Times New Roman"/>
              </a:defRPr>
            </a:pPr>
            <a:r>
              <a:rPr lang="en-US" sz="2800">
                <a:latin typeface="Times New Roman"/>
                <a:cs typeface="Times New Roman"/>
              </a:rPr>
              <a:t>Made &amp; Presented by: Inji Hatem Amin</a:t>
            </a:r>
            <a:endParaRPr lang="en-US" sz="2800" dirty="0">
              <a:latin typeface="Times New Roman"/>
              <a:cs typeface="Times New Roman"/>
            </a:endParaRPr>
          </a:p>
          <a:p>
            <a:pPr>
              <a:defRPr>
                <a:latin typeface="Times New Roman"/>
              </a:defRPr>
            </a:pPr>
            <a:endParaRPr lang="en-US"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Project Question &amp; Goal</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Question: Can we predict whether a patient has diabetes based on:</a:t>
            </a:r>
          </a:p>
          <a:p>
            <a:pPr>
              <a:spcAft>
                <a:spcPts val="1200"/>
              </a:spcAft>
              <a:defRPr sz="2000">
                <a:solidFill>
                  <a:srgbClr val="000000"/>
                </a:solidFill>
                <a:latin typeface="Times New Roman"/>
              </a:defRPr>
            </a:pPr>
            <a:r>
              <a:rPr>
                <a:latin typeface="Times New Roman"/>
              </a:rPr>
              <a:t>   • HbA1c level (glycated hemoglobin)</a:t>
            </a:r>
          </a:p>
          <a:p>
            <a:pPr>
              <a:spcAft>
                <a:spcPts val="1200"/>
              </a:spcAft>
              <a:defRPr sz="2000">
                <a:solidFill>
                  <a:srgbClr val="000000"/>
                </a:solidFill>
                <a:latin typeface="Times New Roman"/>
              </a:defRPr>
            </a:pPr>
            <a:r>
              <a:rPr>
                <a:latin typeface="Times New Roman"/>
              </a:rPr>
              <a:t>   • Blood glucose level</a:t>
            </a:r>
          </a:p>
          <a:p>
            <a:pPr>
              <a:spcAft>
                <a:spcPts val="1200"/>
              </a:spcAft>
              <a:defRPr sz="2000">
                <a:solidFill>
                  <a:srgbClr val="000000"/>
                </a:solidFill>
                <a:latin typeface="Times New Roman"/>
              </a:defRPr>
            </a:pPr>
            <a:r>
              <a:rPr>
                <a:latin typeface="Times New Roman"/>
              </a:rPr>
              <a:t>   • BMI, Age, Hypertension, Heart disease, Smoking history</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Goal: Build a reliable early warning system to help clinicians</a:t>
            </a:r>
          </a:p>
          <a:p>
            <a:pPr>
              <a:spcAft>
                <a:spcPts val="1200"/>
              </a:spcAft>
              <a:defRPr sz="2000">
                <a:solidFill>
                  <a:srgbClr val="000000"/>
                </a:solidFill>
                <a:latin typeface="Times New Roman"/>
              </a:defRPr>
            </a:pPr>
            <a:r>
              <a:rPr>
                <a:latin typeface="Times New Roman"/>
              </a:rPr>
              <a:t>intervene before serious complications develop.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Data Cleaning – Documented Steps</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 Removed duplicate rows: 4,414 rows removed</a:t>
            </a:r>
          </a:p>
          <a:p>
            <a:pPr>
              <a:spcAft>
                <a:spcPts val="1200"/>
              </a:spcAft>
              <a:defRPr sz="2000">
                <a:solidFill>
                  <a:srgbClr val="000000"/>
                </a:solidFill>
                <a:latin typeface="Times New Roman"/>
              </a:defRPr>
            </a:pPr>
            <a:r>
              <a:rPr>
                <a:latin typeface="Times New Roman"/>
              </a:rPr>
              <a:t>• Replaced 'No Info' in smoking_history with mode ('never')</a:t>
            </a:r>
          </a:p>
          <a:p>
            <a:pPr>
              <a:spcAft>
                <a:spcPts val="1200"/>
              </a:spcAft>
              <a:defRPr sz="2000">
                <a:solidFill>
                  <a:srgbClr val="000000"/>
                </a:solidFill>
                <a:latin typeface="Times New Roman"/>
              </a:defRPr>
            </a:pPr>
            <a:r>
              <a:rPr>
                <a:latin typeface="Times New Roman"/>
              </a:rPr>
              <a:t>• Filtered out invalid gender entries (only Male/Female)</a:t>
            </a:r>
          </a:p>
          <a:p>
            <a:pPr>
              <a:spcAft>
                <a:spcPts val="1200"/>
              </a:spcAft>
              <a:defRPr sz="2000">
                <a:solidFill>
                  <a:srgbClr val="000000"/>
                </a:solidFill>
                <a:latin typeface="Times New Roman"/>
              </a:defRPr>
            </a:pPr>
            <a:r>
              <a:rPr>
                <a:latin typeface="Times New Roman"/>
              </a:rPr>
              <a:t>• Capped BMI outliers at 60 (medically unrealistic above 60)</a:t>
            </a:r>
          </a:p>
          <a:p>
            <a:pPr>
              <a:spcAft>
                <a:spcPts val="1200"/>
              </a:spcAft>
              <a:defRPr sz="2000">
                <a:solidFill>
                  <a:srgbClr val="000000"/>
                </a:solidFill>
                <a:latin typeface="Times New Roman"/>
              </a:defRPr>
            </a:pPr>
            <a:r>
              <a:rPr>
                <a:latin typeface="Times New Roman"/>
              </a:rPr>
              <a:t>• Converted age from float to integer</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Final cleaned shape: 95,586 rows × 9 columns, no missing values.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Univariate Distributions</a:t>
            </a:r>
          </a:p>
        </p:txBody>
      </p:sp>
      <p:pic>
        <p:nvPicPr>
          <p:cNvPr id="4" name="Picture 3" descr="plot1_univariate_numeric.png"/>
          <p:cNvPicPr>
            <a:picLocks noChangeAspect="1"/>
          </p:cNvPicPr>
          <p:nvPr/>
        </p:nvPicPr>
        <p:blipFill>
          <a:blip r:embed="rId3"/>
          <a:stretch>
            <a:fillRect/>
          </a:stretch>
        </p:blipFill>
        <p:spPr>
          <a:xfrm>
            <a:off x="914400" y="1371600"/>
            <a:ext cx="10058400" cy="2514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Categorical &amp; Bivariate Visualizations</a:t>
            </a:r>
          </a:p>
        </p:txBody>
      </p:sp>
      <p:pic>
        <p:nvPicPr>
          <p:cNvPr id="4" name="Picture 3" descr="plot2_univariate_categorical.png"/>
          <p:cNvPicPr>
            <a:picLocks noChangeAspect="1"/>
          </p:cNvPicPr>
          <p:nvPr/>
        </p:nvPicPr>
        <p:blipFill>
          <a:blip r:embed="rId3"/>
          <a:stretch>
            <a:fillRect/>
          </a:stretch>
        </p:blipFill>
        <p:spPr>
          <a:xfrm>
            <a:off x="914400" y="1371600"/>
            <a:ext cx="10058400" cy="2514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HbA1c &amp; Glucose vs Diabetes</a:t>
            </a:r>
          </a:p>
        </p:txBody>
      </p:sp>
      <p:pic>
        <p:nvPicPr>
          <p:cNvPr id="4" name="Picture 3" descr="plot3_bivariate_boxplots.png"/>
          <p:cNvPicPr>
            <a:picLocks noChangeAspect="1"/>
          </p:cNvPicPr>
          <p:nvPr/>
        </p:nvPicPr>
        <p:blipFill>
          <a:blip r:embed="rId3"/>
          <a:stretch>
            <a:fillRect/>
          </a:stretch>
        </p:blipFill>
        <p:spPr>
          <a:xfrm>
            <a:off x="914400" y="1371600"/>
            <a:ext cx="10058400" cy="35922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Correlation Heatmap</a:t>
            </a:r>
          </a:p>
        </p:txBody>
      </p:sp>
      <p:pic>
        <p:nvPicPr>
          <p:cNvPr id="4" name="Picture 3" descr="plot4_heatmap.png"/>
          <p:cNvPicPr>
            <a:picLocks noChangeAspect="1"/>
          </p:cNvPicPr>
          <p:nvPr/>
        </p:nvPicPr>
        <p:blipFill>
          <a:blip r:embed="rId3"/>
          <a:stretch>
            <a:fillRect/>
          </a:stretch>
        </p:blipFill>
        <p:spPr>
          <a:xfrm>
            <a:off x="1460500" y="1193800"/>
            <a:ext cx="8966200" cy="6278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Hypertension &amp; Heart Disease</a:t>
            </a:r>
          </a:p>
        </p:txBody>
      </p:sp>
      <p:pic>
        <p:nvPicPr>
          <p:cNvPr id="4" name="Picture 3" descr="plot5_countplots.png"/>
          <p:cNvPicPr>
            <a:picLocks noChangeAspect="1"/>
          </p:cNvPicPr>
          <p:nvPr/>
        </p:nvPicPr>
        <p:blipFill>
          <a:blip r:embed="rId3"/>
          <a:stretch>
            <a:fillRect/>
          </a:stretch>
        </p:blipFill>
        <p:spPr>
          <a:xfrm>
            <a:off x="914400" y="1371600"/>
            <a:ext cx="10058400" cy="35922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Feature Engineering &amp; Selection</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New features created:</a:t>
            </a:r>
          </a:p>
          <a:p>
            <a:pPr>
              <a:spcAft>
                <a:spcPts val="1200"/>
              </a:spcAft>
              <a:defRPr sz="2000">
                <a:solidFill>
                  <a:srgbClr val="000000"/>
                </a:solidFill>
                <a:latin typeface="Times New Roman"/>
              </a:defRPr>
            </a:pPr>
            <a:r>
              <a:rPr>
                <a:latin typeface="Times New Roman"/>
              </a:rPr>
              <a:t>   • age_group (Young, Middle Aged, Pre‑Senior, Senior)</a:t>
            </a:r>
          </a:p>
          <a:p>
            <a:pPr>
              <a:spcAft>
                <a:spcPts val="1200"/>
              </a:spcAft>
              <a:defRPr sz="2000">
                <a:solidFill>
                  <a:srgbClr val="000000"/>
                </a:solidFill>
                <a:latin typeface="Times New Roman"/>
              </a:defRPr>
            </a:pPr>
            <a:r>
              <a:rPr>
                <a:latin typeface="Times New Roman"/>
              </a:rPr>
              <a:t>   • bmi_category (Underweight, Normal, Overweight, Obese)</a:t>
            </a:r>
          </a:p>
          <a:p>
            <a:pPr>
              <a:spcAft>
                <a:spcPts val="1200"/>
              </a:spcAft>
              <a:defRPr sz="2000">
                <a:solidFill>
                  <a:srgbClr val="000000"/>
                </a:solidFill>
                <a:latin typeface="Times New Roman"/>
              </a:defRPr>
            </a:pPr>
            <a:r>
              <a:rPr>
                <a:latin typeface="Times New Roman"/>
              </a:rPr>
              <a:t>   • glucose_risk (Normal, Pre‑Diabetic, Diabetic Range)</a:t>
            </a:r>
          </a:p>
          <a:p>
            <a:pPr>
              <a:spcAft>
                <a:spcPts val="1200"/>
              </a:spcAft>
              <a:defRPr sz="2000">
                <a:solidFill>
                  <a:srgbClr val="000000"/>
                </a:solidFill>
                <a:latin typeface="Times New Roman"/>
              </a:defRPr>
            </a:pPr>
            <a:r>
              <a:rPr>
                <a:latin typeface="Times New Roman"/>
              </a:rPr>
              <a:t>   • risk_score (0–4 composite score from 4 risk factors)</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Feature selection – Filter method (SelectKBest with chi²):</a:t>
            </a:r>
          </a:p>
          <a:p>
            <a:pPr>
              <a:spcAft>
                <a:spcPts val="1200"/>
              </a:spcAft>
              <a:defRPr sz="2000">
                <a:solidFill>
                  <a:srgbClr val="000000"/>
                </a:solidFill>
                <a:latin typeface="Times New Roman"/>
              </a:defRPr>
            </a:pPr>
            <a:r>
              <a:rPr>
                <a:latin typeface="Times New Roman"/>
              </a:rPr>
              <a:t>   Top 8 features selected for modelling.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Model Comparison (3 Algorithms)</a:t>
            </a:r>
          </a:p>
        </p:txBody>
      </p:sp>
      <p:graphicFrame>
        <p:nvGraphicFramePr>
          <p:cNvPr id="4" name="Table 3"/>
          <p:cNvGraphicFramePr>
            <a:graphicFrameLocks noGrp="1"/>
          </p:cNvGraphicFramePr>
          <p:nvPr/>
        </p:nvGraphicFramePr>
        <p:xfrm>
          <a:off x="914400" y="1371600"/>
          <a:ext cx="10058400" cy="18288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457200">
                <a:tc>
                  <a:txBody>
                    <a:bodyPr/>
                    <a:lstStyle/>
                    <a:p>
                      <a:pPr algn="ctr">
                        <a:defRPr sz="1800" b="1">
                          <a:solidFill>
                            <a:srgbClr val="FFFFFF"/>
                          </a:solidFill>
                          <a:latin typeface="Times New Roman"/>
                        </a:defRPr>
                      </a:pPr>
                      <a:r>
                        <a:rPr>
                          <a:latin typeface="Times New Roman"/>
                        </a:rPr>
                        <a:t>Model</a:t>
                      </a:r>
                    </a:p>
                  </a:txBody>
                  <a:tcPr>
                    <a:solidFill>
                      <a:srgbClr val="0070C0"/>
                    </a:solidFill>
                  </a:tcPr>
                </a:tc>
                <a:tc>
                  <a:txBody>
                    <a:bodyPr/>
                    <a:lstStyle/>
                    <a:p>
                      <a:pPr algn="ctr">
                        <a:defRPr sz="1800" b="1">
                          <a:solidFill>
                            <a:srgbClr val="FFFFFF"/>
                          </a:solidFill>
                          <a:latin typeface="Times New Roman"/>
                        </a:defRPr>
                      </a:pPr>
                      <a:r>
                        <a:rPr>
                          <a:latin typeface="Times New Roman"/>
                        </a:rPr>
                        <a:t>Accuracy</a:t>
                      </a:r>
                    </a:p>
                  </a:txBody>
                  <a:tcPr>
                    <a:solidFill>
                      <a:srgbClr val="0070C0"/>
                    </a:solidFill>
                  </a:tcPr>
                </a:tc>
                <a:tc>
                  <a:txBody>
                    <a:bodyPr/>
                    <a:lstStyle/>
                    <a:p>
                      <a:pPr algn="ctr">
                        <a:defRPr sz="1800" b="1">
                          <a:solidFill>
                            <a:srgbClr val="FFFFFF"/>
                          </a:solidFill>
                          <a:latin typeface="Times New Roman"/>
                        </a:defRPr>
                      </a:pPr>
                      <a:r>
                        <a:rPr>
                          <a:latin typeface="Times New Roman"/>
                        </a:rPr>
                        <a:t>Precision</a:t>
                      </a:r>
                    </a:p>
                  </a:txBody>
                  <a:tcPr>
                    <a:solidFill>
                      <a:srgbClr val="0070C0"/>
                    </a:solidFill>
                  </a:tcPr>
                </a:tc>
                <a:tc>
                  <a:txBody>
                    <a:bodyPr/>
                    <a:lstStyle/>
                    <a:p>
                      <a:pPr algn="ctr">
                        <a:defRPr sz="1800" b="1">
                          <a:solidFill>
                            <a:srgbClr val="FFFFFF"/>
                          </a:solidFill>
                          <a:latin typeface="Times New Roman"/>
                        </a:defRPr>
                      </a:pPr>
                      <a:r>
                        <a:rPr>
                          <a:latin typeface="Times New Roman"/>
                        </a:rPr>
                        <a:t>Recall</a:t>
                      </a:r>
                    </a:p>
                  </a:txBody>
                  <a:tcPr>
                    <a:solidFill>
                      <a:srgbClr val="0070C0"/>
                    </a:solidFill>
                  </a:tcPr>
                </a:tc>
                <a:tc>
                  <a:txBody>
                    <a:bodyPr/>
                    <a:lstStyle/>
                    <a:p>
                      <a:pPr algn="ctr">
                        <a:defRPr sz="1800" b="1">
                          <a:solidFill>
                            <a:srgbClr val="FFFFFF"/>
                          </a:solidFill>
                          <a:latin typeface="Times New Roman"/>
                        </a:defRPr>
                      </a:pPr>
                      <a:r>
                        <a:rPr>
                          <a:latin typeface="Times New Roman"/>
                        </a:rPr>
                        <a:t>F1-score</a:t>
                      </a:r>
                    </a:p>
                  </a:txBody>
                  <a:tcPr>
                    <a:solidFill>
                      <a:srgbClr val="0070C0"/>
                    </a:solidFill>
                  </a:tcPr>
                </a:tc>
                <a:extLst>
                  <a:ext uri="{0D108BD9-81ED-4DB2-BD59-A6C34878D82A}">
                    <a16:rowId xmlns:a16="http://schemas.microsoft.com/office/drawing/2014/main" val="10000"/>
                  </a:ext>
                </a:extLst>
              </a:tr>
              <a:tr h="457200">
                <a:tc>
                  <a:txBody>
                    <a:bodyPr/>
                    <a:lstStyle/>
                    <a:p>
                      <a:pPr algn="ctr">
                        <a:defRPr sz="1600">
                          <a:latin typeface="Times New Roman"/>
                        </a:defRPr>
                      </a:pPr>
                      <a:r>
                        <a:rPr>
                          <a:latin typeface="Times New Roman"/>
                        </a:rPr>
                        <a:t>Logistic Regression</a:t>
                      </a:r>
                    </a:p>
                  </a:txBody>
                  <a:tcPr/>
                </a:tc>
                <a:tc>
                  <a:txBody>
                    <a:bodyPr/>
                    <a:lstStyle/>
                    <a:p>
                      <a:pPr algn="ctr">
                        <a:defRPr sz="1600">
                          <a:latin typeface="Times New Roman"/>
                        </a:defRPr>
                      </a:pPr>
                      <a:r>
                        <a:rPr>
                          <a:latin typeface="Times New Roman"/>
                        </a:rPr>
                        <a:t>0.961</a:t>
                      </a:r>
                    </a:p>
                  </a:txBody>
                  <a:tcPr/>
                </a:tc>
                <a:tc>
                  <a:txBody>
                    <a:bodyPr/>
                    <a:lstStyle/>
                    <a:p>
                      <a:pPr algn="ctr">
                        <a:defRPr sz="1600">
                          <a:latin typeface="Times New Roman"/>
                        </a:defRPr>
                      </a:pPr>
                      <a:r>
                        <a:rPr>
                          <a:latin typeface="Times New Roman"/>
                        </a:rPr>
                        <a:t>0.859</a:t>
                      </a:r>
                    </a:p>
                  </a:txBody>
                  <a:tcPr/>
                </a:tc>
                <a:tc>
                  <a:txBody>
                    <a:bodyPr/>
                    <a:lstStyle/>
                    <a:p>
                      <a:pPr algn="ctr">
                        <a:defRPr sz="1600">
                          <a:latin typeface="Times New Roman"/>
                        </a:defRPr>
                      </a:pPr>
                      <a:r>
                        <a:rPr>
                          <a:latin typeface="Times New Roman"/>
                        </a:rPr>
                        <a:t>0.909</a:t>
                      </a:r>
                    </a:p>
                  </a:txBody>
                  <a:tcPr/>
                </a:tc>
                <a:tc>
                  <a:txBody>
                    <a:bodyPr/>
                    <a:lstStyle/>
                    <a:p>
                      <a:pPr algn="ctr">
                        <a:defRPr sz="1600">
                          <a:latin typeface="Times New Roman"/>
                        </a:defRPr>
                      </a:pPr>
                      <a:r>
                        <a:rPr>
                          <a:latin typeface="Times New Roman"/>
                        </a:rPr>
                        <a:t>0.883</a:t>
                      </a:r>
                    </a:p>
                  </a:txBody>
                  <a:tcPr/>
                </a:tc>
                <a:extLst>
                  <a:ext uri="{0D108BD9-81ED-4DB2-BD59-A6C34878D82A}">
                    <a16:rowId xmlns:a16="http://schemas.microsoft.com/office/drawing/2014/main" val="10001"/>
                  </a:ext>
                </a:extLst>
              </a:tr>
              <a:tr h="457200">
                <a:tc>
                  <a:txBody>
                    <a:bodyPr/>
                    <a:lstStyle/>
                    <a:p>
                      <a:pPr algn="ctr">
                        <a:defRPr sz="1600">
                          <a:latin typeface="Times New Roman"/>
                        </a:defRPr>
                      </a:pPr>
                      <a:r>
                        <a:rPr>
                          <a:latin typeface="Times New Roman"/>
                        </a:rPr>
                        <a:t>Random Forest</a:t>
                      </a:r>
                    </a:p>
                  </a:txBody>
                  <a:tcPr>
                    <a:solidFill>
                      <a:srgbClr val="F0F0F0"/>
                    </a:solidFill>
                  </a:tcPr>
                </a:tc>
                <a:tc>
                  <a:txBody>
                    <a:bodyPr/>
                    <a:lstStyle/>
                    <a:p>
                      <a:pPr algn="ctr">
                        <a:defRPr sz="1600">
                          <a:latin typeface="Times New Roman"/>
                        </a:defRPr>
                      </a:pPr>
                      <a:r>
                        <a:rPr>
                          <a:latin typeface="Times New Roman"/>
                        </a:rPr>
                        <a:t>0.970</a:t>
                      </a:r>
                    </a:p>
                  </a:txBody>
                  <a:tcPr>
                    <a:solidFill>
                      <a:srgbClr val="F0F0F0"/>
                    </a:solidFill>
                  </a:tcPr>
                </a:tc>
                <a:tc>
                  <a:txBody>
                    <a:bodyPr/>
                    <a:lstStyle/>
                    <a:p>
                      <a:pPr algn="ctr">
                        <a:defRPr sz="1600">
                          <a:latin typeface="Times New Roman"/>
                        </a:defRPr>
                      </a:pPr>
                      <a:r>
                        <a:rPr>
                          <a:latin typeface="Times New Roman"/>
                        </a:rPr>
                        <a:t>0.930</a:t>
                      </a:r>
                    </a:p>
                  </a:txBody>
                  <a:tcPr>
                    <a:solidFill>
                      <a:srgbClr val="F0F0F0"/>
                    </a:solidFill>
                  </a:tcPr>
                </a:tc>
                <a:tc>
                  <a:txBody>
                    <a:bodyPr/>
                    <a:lstStyle/>
                    <a:p>
                      <a:pPr algn="ctr">
                        <a:defRPr sz="1600">
                          <a:latin typeface="Times New Roman"/>
                        </a:defRPr>
                      </a:pPr>
                      <a:r>
                        <a:rPr>
                          <a:latin typeface="Times New Roman"/>
                        </a:rPr>
                        <a:t>0.940</a:t>
                      </a:r>
                    </a:p>
                  </a:txBody>
                  <a:tcPr>
                    <a:solidFill>
                      <a:srgbClr val="F0F0F0"/>
                    </a:solidFill>
                  </a:tcPr>
                </a:tc>
                <a:tc>
                  <a:txBody>
                    <a:bodyPr/>
                    <a:lstStyle/>
                    <a:p>
                      <a:pPr algn="ctr">
                        <a:defRPr sz="1600">
                          <a:latin typeface="Times New Roman"/>
                        </a:defRPr>
                      </a:pPr>
                      <a:r>
                        <a:rPr>
                          <a:latin typeface="Times New Roman"/>
                        </a:rPr>
                        <a:t>0.935</a:t>
                      </a:r>
                    </a:p>
                  </a:txBody>
                  <a:tcPr>
                    <a:solidFill>
                      <a:srgbClr val="F0F0F0"/>
                    </a:solidFill>
                  </a:tcPr>
                </a:tc>
                <a:extLst>
                  <a:ext uri="{0D108BD9-81ED-4DB2-BD59-A6C34878D82A}">
                    <a16:rowId xmlns:a16="http://schemas.microsoft.com/office/drawing/2014/main" val="10002"/>
                  </a:ext>
                </a:extLst>
              </a:tr>
              <a:tr h="457200">
                <a:tc>
                  <a:txBody>
                    <a:bodyPr/>
                    <a:lstStyle/>
                    <a:p>
                      <a:pPr algn="ctr">
                        <a:defRPr sz="1600">
                          <a:latin typeface="Times New Roman"/>
                        </a:defRPr>
                      </a:pPr>
                      <a:r>
                        <a:rPr>
                          <a:latin typeface="Times New Roman"/>
                        </a:rPr>
                        <a:t>Gradient Boosting</a:t>
                      </a:r>
                    </a:p>
                  </a:txBody>
                  <a:tcPr/>
                </a:tc>
                <a:tc>
                  <a:txBody>
                    <a:bodyPr/>
                    <a:lstStyle/>
                    <a:p>
                      <a:pPr algn="ctr">
                        <a:defRPr sz="1600">
                          <a:latin typeface="Times New Roman"/>
                        </a:defRPr>
                      </a:pPr>
                      <a:r>
                        <a:rPr>
                          <a:latin typeface="Times New Roman"/>
                        </a:rPr>
                        <a:t>0.972</a:t>
                      </a:r>
                    </a:p>
                  </a:txBody>
                  <a:tcPr/>
                </a:tc>
                <a:tc>
                  <a:txBody>
                    <a:bodyPr/>
                    <a:lstStyle/>
                    <a:p>
                      <a:pPr algn="ctr">
                        <a:defRPr sz="1600">
                          <a:latin typeface="Times New Roman"/>
                        </a:defRPr>
                      </a:pPr>
                      <a:r>
                        <a:rPr>
                          <a:latin typeface="Times New Roman"/>
                        </a:rPr>
                        <a:t>0.938</a:t>
                      </a:r>
                    </a:p>
                  </a:txBody>
                  <a:tcPr/>
                </a:tc>
                <a:tc>
                  <a:txBody>
                    <a:bodyPr/>
                    <a:lstStyle/>
                    <a:p>
                      <a:pPr algn="ctr">
                        <a:defRPr sz="1600">
                          <a:latin typeface="Times New Roman"/>
                        </a:defRPr>
                      </a:pPr>
                      <a:r>
                        <a:rPr>
                          <a:latin typeface="Times New Roman"/>
                        </a:rPr>
                        <a:t>0.940</a:t>
                      </a:r>
                    </a:p>
                  </a:txBody>
                  <a:tcPr/>
                </a:tc>
                <a:tc>
                  <a:txBody>
                    <a:bodyPr/>
                    <a:lstStyle/>
                    <a:p>
                      <a:pPr algn="ctr">
                        <a:defRPr sz="1600">
                          <a:latin typeface="Times New Roman"/>
                        </a:defRPr>
                      </a:pPr>
                      <a:r>
                        <a:rPr>
                          <a:latin typeface="Times New Roman"/>
                        </a:rPr>
                        <a:t>0.939</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Model Performance – Bar Chart</a:t>
            </a:r>
          </a:p>
        </p:txBody>
      </p:sp>
      <p:pic>
        <p:nvPicPr>
          <p:cNvPr id="4" name="Picture 3" descr="plot6_model_comparison.png"/>
          <p:cNvPicPr>
            <a:picLocks noChangeAspect="1"/>
          </p:cNvPicPr>
          <p:nvPr/>
        </p:nvPicPr>
        <p:blipFill>
          <a:blip r:embed="rId3"/>
          <a:stretch>
            <a:fillRect/>
          </a:stretch>
        </p:blipFill>
        <p:spPr>
          <a:xfrm>
            <a:off x="914400" y="1371600"/>
            <a:ext cx="10058400" cy="5029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Hyperparameter Tuning (GridSearchCV)</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What is parameter tuning? Finding optimal hyperparameters</a:t>
            </a:r>
          </a:p>
          <a:p>
            <a:pPr>
              <a:spcAft>
                <a:spcPts val="1200"/>
              </a:spcAft>
              <a:defRPr sz="2000">
                <a:solidFill>
                  <a:srgbClr val="000000"/>
                </a:solidFill>
                <a:latin typeface="Times New Roman"/>
              </a:defRPr>
            </a:pPr>
            <a:r>
              <a:rPr>
                <a:latin typeface="Times New Roman"/>
              </a:rPr>
              <a:t>to avoid underfitting/overfitting. Default values are rarely best.</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Tuning approach: GridSearchCV with 3‑fold cross‑validation</a:t>
            </a:r>
          </a:p>
          <a:p>
            <a:pPr>
              <a:spcAft>
                <a:spcPts val="1200"/>
              </a:spcAft>
              <a:defRPr sz="2000">
                <a:solidFill>
                  <a:srgbClr val="000000"/>
                </a:solidFill>
                <a:latin typeface="Times New Roman"/>
              </a:defRPr>
            </a:pPr>
            <a:r>
              <a:rPr>
                <a:latin typeface="Times New Roman"/>
              </a:rPr>
              <a:t>Parameters tuned: n_estimators (100,200), max_depth (10,20),</a:t>
            </a:r>
          </a:p>
          <a:p>
            <a:pPr>
              <a:spcAft>
                <a:spcPts val="1200"/>
              </a:spcAft>
              <a:defRPr sz="2000">
                <a:solidFill>
                  <a:srgbClr val="000000"/>
                </a:solidFill>
                <a:latin typeface="Times New Roman"/>
              </a:defRPr>
            </a:pPr>
            <a:r>
              <a:rPr>
                <a:latin typeface="Times New Roman"/>
              </a:rPr>
              <a:t>min_samples_split (2,5). Scoring metric: F1.</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 Best parameters found: n_estimators=200, max_depth=20, min_samples_split=2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Final Model Evaluation (Tuned Random Forest)</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Metrics on test set (20% holdout):</a:t>
            </a:r>
          </a:p>
          <a:p>
            <a:pPr>
              <a:spcAft>
                <a:spcPts val="1200"/>
              </a:spcAft>
              <a:defRPr sz="2000">
                <a:solidFill>
                  <a:srgbClr val="000000"/>
                </a:solidFill>
                <a:latin typeface="Times New Roman"/>
              </a:defRPr>
            </a:pPr>
            <a:r>
              <a:rPr>
                <a:latin typeface="Times New Roman"/>
              </a:rPr>
              <a:t>   • Accuracy  : 0.973</a:t>
            </a:r>
          </a:p>
          <a:p>
            <a:pPr>
              <a:spcAft>
                <a:spcPts val="1200"/>
              </a:spcAft>
              <a:defRPr sz="2000">
                <a:solidFill>
                  <a:srgbClr val="000000"/>
                </a:solidFill>
                <a:latin typeface="Times New Roman"/>
              </a:defRPr>
            </a:pPr>
            <a:r>
              <a:rPr>
                <a:latin typeface="Times New Roman"/>
              </a:rPr>
              <a:t>   • Precision : 0.936</a:t>
            </a:r>
          </a:p>
          <a:p>
            <a:pPr>
              <a:spcAft>
                <a:spcPts val="1200"/>
              </a:spcAft>
              <a:defRPr sz="2000">
                <a:solidFill>
                  <a:srgbClr val="000000"/>
                </a:solidFill>
                <a:latin typeface="Times New Roman"/>
              </a:defRPr>
            </a:pPr>
            <a:r>
              <a:rPr>
                <a:latin typeface="Times New Roman"/>
              </a:rPr>
              <a:t>   • Recall    : 0.951</a:t>
            </a:r>
          </a:p>
          <a:p>
            <a:pPr>
              <a:spcAft>
                <a:spcPts val="1200"/>
              </a:spcAft>
              <a:defRPr sz="2000">
                <a:solidFill>
                  <a:srgbClr val="000000"/>
                </a:solidFill>
                <a:latin typeface="Times New Roman"/>
              </a:defRPr>
            </a:pPr>
            <a:r>
              <a:rPr>
                <a:latin typeface="Times New Roman"/>
              </a:rPr>
              <a:t>   • F1-score  : 0.943</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Confusion matrix (see next slide):</a:t>
            </a:r>
          </a:p>
          <a:p>
            <a:pPr>
              <a:spcAft>
                <a:spcPts val="1200"/>
              </a:spcAft>
              <a:defRPr sz="2000">
                <a:solidFill>
                  <a:srgbClr val="000000"/>
                </a:solidFill>
                <a:latin typeface="Times New Roman"/>
              </a:defRPr>
            </a:pPr>
            <a:r>
              <a:rPr>
                <a:latin typeface="Times New Roman"/>
              </a:rPr>
              <a:t>   True Negatives: 18,335    False Positives: 415</a:t>
            </a:r>
          </a:p>
          <a:p>
            <a:pPr>
              <a:spcAft>
                <a:spcPts val="1200"/>
              </a:spcAft>
              <a:defRPr sz="2000">
                <a:solidFill>
                  <a:srgbClr val="000000"/>
                </a:solidFill>
                <a:latin typeface="Times New Roman"/>
              </a:defRPr>
            </a:pPr>
            <a:r>
              <a:rPr>
                <a:latin typeface="Times New Roman"/>
              </a:rPr>
              <a:t>   False Negatives: 341      True Positives: 6,618</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 Both precision and recall &gt; 0.3 (requirement satisfied).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Confusion Matrix – Tuned Random Forest</a:t>
            </a:r>
          </a:p>
        </p:txBody>
      </p:sp>
      <p:pic>
        <p:nvPicPr>
          <p:cNvPr id="4" name="Picture 3" descr="plot7_confusion_matrix.png"/>
          <p:cNvPicPr>
            <a:picLocks noChangeAspect="1"/>
          </p:cNvPicPr>
          <p:nvPr/>
        </p:nvPicPr>
        <p:blipFill>
          <a:blip r:embed="rId3"/>
          <a:stretch>
            <a:fillRect/>
          </a:stretch>
        </p:blipFill>
        <p:spPr>
          <a:xfrm>
            <a:off x="2095500" y="1181100"/>
            <a:ext cx="7251700" cy="54737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Feature Importance</a:t>
            </a:r>
          </a:p>
        </p:txBody>
      </p:sp>
      <p:pic>
        <p:nvPicPr>
          <p:cNvPr id="4" name="Picture 3" descr="plot8_feature_importance.png"/>
          <p:cNvPicPr>
            <a:picLocks noChangeAspect="1"/>
          </p:cNvPicPr>
          <p:nvPr/>
        </p:nvPicPr>
        <p:blipFill>
          <a:blip r:embed="rId3"/>
          <a:stretch>
            <a:fillRect/>
          </a:stretch>
        </p:blipFill>
        <p:spPr>
          <a:xfrm>
            <a:off x="914400" y="1371600"/>
            <a:ext cx="10058400" cy="5029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Deployment – Interactive Web App</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Model deployed using Streamlit:</a:t>
            </a:r>
          </a:p>
          <a:p>
            <a:pPr>
              <a:spcAft>
                <a:spcPts val="1200"/>
              </a:spcAft>
              <a:defRPr sz="2000">
                <a:solidFill>
                  <a:srgbClr val="000000"/>
                </a:solidFill>
                <a:latin typeface="Times New Roman"/>
              </a:defRPr>
            </a:pPr>
            <a:r>
              <a:rPr>
                <a:latin typeface="Times New Roman"/>
              </a:rPr>
              <a:t>   → https://pp2gcxmicxjsajkvjykyfw.streamlit.app/</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App features:</a:t>
            </a:r>
          </a:p>
          <a:p>
            <a:pPr>
              <a:spcAft>
                <a:spcPts val="1200"/>
              </a:spcAft>
              <a:defRPr sz="2000">
                <a:solidFill>
                  <a:srgbClr val="000000"/>
                </a:solidFill>
                <a:latin typeface="Times New Roman"/>
              </a:defRPr>
            </a:pPr>
            <a:r>
              <a:rPr>
                <a:latin typeface="Times New Roman"/>
              </a:rPr>
              <a:t>   • User inputs age, BMI, glucose, HbA1c, etc.</a:t>
            </a:r>
          </a:p>
          <a:p>
            <a:pPr>
              <a:spcAft>
                <a:spcPts val="1200"/>
              </a:spcAft>
              <a:defRPr sz="2000">
                <a:solidFill>
                  <a:srgbClr val="000000"/>
                </a:solidFill>
                <a:latin typeface="Times New Roman"/>
              </a:defRPr>
            </a:pPr>
            <a:r>
              <a:rPr>
                <a:latin typeface="Times New Roman"/>
              </a:rPr>
              <a:t>   • Real‑time prediction (Diabetic / Not Diabetic)</a:t>
            </a:r>
          </a:p>
          <a:p>
            <a:pPr>
              <a:spcAft>
                <a:spcPts val="1200"/>
              </a:spcAft>
              <a:defRPr sz="2000">
                <a:solidFill>
                  <a:srgbClr val="000000"/>
                </a:solidFill>
                <a:latin typeface="Times New Roman"/>
              </a:defRPr>
            </a:pPr>
            <a:r>
              <a:rPr>
                <a:latin typeface="Times New Roman"/>
              </a:rPr>
              <a:t>   • Probability score displayed</a:t>
            </a:r>
          </a:p>
          <a:p>
            <a:pPr>
              <a:spcAft>
                <a:spcPts val="1200"/>
              </a:spcAft>
              <a:defRPr sz="2000">
                <a:solidFill>
                  <a:srgbClr val="000000"/>
                </a:solidFill>
                <a:latin typeface="Times New Roman"/>
              </a:defRPr>
            </a:pPr>
            <a:r>
              <a:rPr>
                <a:latin typeface="Times New Roman"/>
              </a:rPr>
              <a:t>   • Same preprocessing (scaler, selector, model) as training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57200"/>
            <a:ext cx="10972800" cy="731520"/>
          </a:xfrm>
          <a:prstGeom prst="rect">
            <a:avLst/>
          </a:prstGeom>
          <a:noFill/>
        </p:spPr>
        <p:txBody>
          <a:bodyPr wrap="none">
            <a:spAutoFit/>
          </a:bodyPr>
          <a:lstStyle/>
          <a:p>
            <a:pPr>
              <a:defRPr sz="3200" b="1">
                <a:solidFill>
                  <a:srgbClr val="004678"/>
                </a:solidFill>
                <a:latin typeface="Times New Roman"/>
              </a:defRPr>
            </a:pPr>
            <a:r>
              <a:rPr>
                <a:latin typeface="Times New Roman"/>
              </a:rPr>
              <a:t>🎉 Conclusions &amp; Future Work</a:t>
            </a:r>
          </a:p>
        </p:txBody>
      </p:sp>
      <p:sp>
        <p:nvSpPr>
          <p:cNvPr id="4" name="TextBox 3"/>
          <p:cNvSpPr txBox="1"/>
          <p:nvPr/>
        </p:nvSpPr>
        <p:spPr>
          <a:xfrm>
            <a:off x="731520" y="1371600"/>
            <a:ext cx="10515600" cy="4572000"/>
          </a:xfrm>
          <a:prstGeom prst="rect">
            <a:avLst/>
          </a:prstGeom>
          <a:noFill/>
        </p:spPr>
        <p:txBody>
          <a:bodyPr wrap="square">
            <a:spAutoFit/>
          </a:bodyPr>
          <a:lstStyle/>
          <a:p>
            <a:pPr>
              <a:defRPr>
                <a:latin typeface="Times New Roman"/>
              </a:defRPr>
            </a:pPr>
            <a:endParaRPr/>
          </a:p>
          <a:p>
            <a:pPr>
              <a:spcAft>
                <a:spcPts val="1200"/>
              </a:spcAft>
              <a:defRPr sz="2000">
                <a:solidFill>
                  <a:srgbClr val="000000"/>
                </a:solidFill>
                <a:latin typeface="Times New Roman"/>
              </a:defRPr>
            </a:pPr>
            <a:r>
              <a:rPr>
                <a:latin typeface="Times New Roman"/>
              </a:rPr>
              <a:t>✅ Successfully built a high‑performance diabetes predictor (F1=0.94)</a:t>
            </a:r>
          </a:p>
          <a:p>
            <a:pPr>
              <a:spcAft>
                <a:spcPts val="1200"/>
              </a:spcAft>
              <a:defRPr sz="2000">
                <a:solidFill>
                  <a:srgbClr val="000000"/>
                </a:solidFill>
                <a:latin typeface="Times New Roman"/>
              </a:defRPr>
            </a:pPr>
            <a:r>
              <a:rPr>
                <a:latin typeface="Times New Roman"/>
              </a:rPr>
              <a:t>✅ HbA1c and blood glucose are the dominant clinical indicators</a:t>
            </a:r>
          </a:p>
          <a:p>
            <a:pPr>
              <a:spcAft>
                <a:spcPts val="1200"/>
              </a:spcAft>
              <a:defRPr sz="2000">
                <a:solidFill>
                  <a:srgbClr val="000000"/>
                </a:solidFill>
                <a:latin typeface="Times New Roman"/>
              </a:defRPr>
            </a:pPr>
            <a:r>
              <a:rPr>
                <a:latin typeface="Times New Roman"/>
              </a:rPr>
              <a:t>✅ Engineered risk_score adds predictive value</a:t>
            </a:r>
          </a:p>
          <a:p>
            <a:pPr>
              <a:spcAft>
                <a:spcPts val="1200"/>
              </a:spcAft>
              <a:defRPr sz="2000">
                <a:solidFill>
                  <a:srgbClr val="000000"/>
                </a:solidFill>
                <a:latin typeface="Times New Roman"/>
              </a:defRPr>
            </a:pPr>
            <a:r>
              <a:rPr>
                <a:latin typeface="Times New Roman"/>
              </a:rPr>
              <a:t>✅ Deployment makes the model accessible to non‑technical users</a:t>
            </a:r>
          </a:p>
          <a:p>
            <a:pPr>
              <a:spcAft>
                <a:spcPts val="1200"/>
              </a:spcAft>
              <a:defRPr sz="2000">
                <a:solidFill>
                  <a:srgbClr val="000000"/>
                </a:solidFill>
                <a:latin typeface="Times New Roman"/>
              </a:defRPr>
            </a:pPr>
            <a:endParaRPr>
              <a:latin typeface="Times New Roman"/>
            </a:endParaRPr>
          </a:p>
          <a:p>
            <a:pPr>
              <a:spcAft>
                <a:spcPts val="1200"/>
              </a:spcAft>
              <a:defRPr sz="2000">
                <a:solidFill>
                  <a:srgbClr val="000000"/>
                </a:solidFill>
                <a:latin typeface="Times New Roman"/>
              </a:defRPr>
            </a:pPr>
            <a:r>
              <a:rPr>
                <a:latin typeface="Times New Roman"/>
              </a:rPr>
              <a:t>🔮 Future improvements:</a:t>
            </a:r>
          </a:p>
          <a:p>
            <a:pPr>
              <a:spcAft>
                <a:spcPts val="1200"/>
              </a:spcAft>
              <a:defRPr sz="2000">
                <a:solidFill>
                  <a:srgbClr val="000000"/>
                </a:solidFill>
                <a:latin typeface="Times New Roman"/>
              </a:defRPr>
            </a:pPr>
            <a:r>
              <a:rPr>
                <a:latin typeface="Times New Roman"/>
              </a:rPr>
              <a:t>   • Include lifestyle features (diet, physical activity)</a:t>
            </a:r>
          </a:p>
          <a:p>
            <a:pPr>
              <a:spcAft>
                <a:spcPts val="1200"/>
              </a:spcAft>
              <a:defRPr sz="2000">
                <a:solidFill>
                  <a:srgbClr val="000000"/>
                </a:solidFill>
                <a:latin typeface="Times New Roman"/>
              </a:defRPr>
            </a:pPr>
            <a:r>
              <a:rPr>
                <a:latin typeface="Times New Roman"/>
              </a:rPr>
              <a:t>   • Validate on external datasets</a:t>
            </a:r>
          </a:p>
          <a:p>
            <a:pPr>
              <a:spcAft>
                <a:spcPts val="1200"/>
              </a:spcAft>
              <a:defRPr sz="2000">
                <a:solidFill>
                  <a:srgbClr val="000000"/>
                </a:solidFill>
                <a:latin typeface="Times New Roman"/>
              </a:defRPr>
            </a:pPr>
            <a:r>
              <a:rPr>
                <a:latin typeface="Times New Roman"/>
              </a:rPr>
              <a:t>   • Add SHAP explanations for individual predictions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C5D0B6-84E5-4BA8-C35D-E29E48D64064}"/>
              </a:ext>
            </a:extLst>
          </p:cNvPr>
          <p:cNvSpPr/>
          <p:nvPr/>
        </p:nvSpPr>
        <p:spPr>
          <a:xfrm>
            <a:off x="0" y="0"/>
            <a:ext cx="12191695" cy="27432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5C04883-14FF-D756-2543-E233DEDCEF6E}"/>
              </a:ext>
            </a:extLst>
          </p:cNvPr>
          <p:cNvSpPr txBox="1"/>
          <p:nvPr/>
        </p:nvSpPr>
        <p:spPr>
          <a:xfrm>
            <a:off x="844440" y="2829090"/>
            <a:ext cx="1277674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200" dirty="0">
                <a:solidFill>
                  <a:schemeClr val="tx2"/>
                </a:solidFill>
                <a:latin typeface="Times New Roman"/>
                <a:ea typeface="Calibri"/>
                <a:cs typeface="Times New Roman"/>
              </a:rPr>
              <a:t>Thank You For </a:t>
            </a:r>
            <a:r>
              <a:rPr lang="en-US" sz="7200">
                <a:solidFill>
                  <a:schemeClr val="tx2"/>
                </a:solidFill>
                <a:latin typeface="Times New Roman"/>
                <a:ea typeface="Calibri"/>
                <a:cs typeface="Times New Roman"/>
              </a:rPr>
              <a:t>Listening </a:t>
            </a:r>
            <a:r>
              <a:rPr lang="en-US" sz="7200" dirty="0">
                <a:solidFill>
                  <a:schemeClr val="tx2"/>
                </a:solidFill>
                <a:latin typeface="Times New Roman"/>
                <a:ea typeface="Calibri"/>
                <a:cs typeface="Times New Roman"/>
              </a:rPr>
              <a:t>!</a:t>
            </a:r>
          </a:p>
        </p:txBody>
      </p:sp>
    </p:spTree>
    <p:extLst>
      <p:ext uri="{BB962C8B-B14F-4D97-AF65-F5344CB8AC3E}">
        <p14:creationId xmlns:p14="http://schemas.microsoft.com/office/powerpoint/2010/main" val="515853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31</cp:revision>
  <dcterms:created xsi:type="dcterms:W3CDTF">2013-01-27T09:14:16Z</dcterms:created>
  <dcterms:modified xsi:type="dcterms:W3CDTF">2026-06-04T19:55:00Z</dcterms:modified>
  <cp:category/>
</cp:coreProperties>
</file>